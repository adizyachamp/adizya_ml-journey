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ECF3F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10332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Vector</a:t>
            </a:r>
            <a:endParaRPr lang="en-US" sz="40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Machines (SVM)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boundary with the widest margin — and use kernels to bend it around non-linear data. Built on the Wine dataset.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41248" y="5779008"/>
            <a:ext cx="10515600" cy="0"/>
          </a:xfrm>
          <a:prstGeom prst="line">
            <a:avLst/>
          </a:prstGeom>
          <a:noFill/>
          <a:ln w="12700">
            <a:solidFill>
              <a:srgbClr val="D9E0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5870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Tulika Sharma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6254496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  |   Dept. of Computer Science   |   PSIT Kanpur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309360" y="58704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7607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of the maximum-margin boundary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 — the points that matter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trick for non-linear data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knobs: C and gamma</a:t>
            </a:r>
            <a:endParaRPr lang="en-US" sz="1700" dirty="0"/>
          </a:p>
          <a:p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lang="en-US" sz="1700" b="1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evaluating on Wine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0" y="1691640"/>
            <a:ext cx="4480560" cy="3977640"/>
          </a:xfrm>
          <a:prstGeom prst="roundRect">
            <a:avLst>
              <a:gd name="adj" fmla="val 2069"/>
            </a:avLst>
          </a:prstGeom>
          <a:solidFill>
            <a:srgbClr val="FBF3E7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837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widest street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86600" y="2221992"/>
            <a:ext cx="4023360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lines separate two classes. SVM picks the one that leaves the widest 'street' between them — the maximum margin. A wider margin means the boundary is more confident and generalises better to new points.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maximum margin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32688" y="402336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boundaries that separate the classes, SVM chooses the one furthest from the nearest points of each class.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MARGIN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widest possible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img/svm_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54480"/>
            <a:ext cx="5029200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524865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solid line is the boundary; dashed lines mark the margin.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22960" y="160020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finds the boundary that maximises the margin — the distance to the closest points of either class.</a:t>
            </a: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closest points are the support vectors. They alone define the boundary; moving any other point doesn't change it.</a:t>
            </a: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wide margin makes the classifier robust: it has the most 'room' before it starts making mistakes.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14516"/>
            </a:avLst>
          </a:prstGeom>
          <a:solidFill>
            <a:srgbClr val="FBF3E7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59893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 </a:t>
            </a:r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= the boundary with the widest margin, fixed by a few support vectors.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697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Kernels &amp; knobs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32688" y="4023360"/>
            <a:ext cx="9692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rarely separable by a straight line. Kernels let SVM draw curved boundaries.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KERNEL TRICK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Curved boundaries without the cost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5852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classes can't be split by a line, a kernel maps the data into a higher dimension where they CAN be separated — then the boundary looks curved back in the original space.</a:t>
            </a: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kernels: linear (straight boundary), RBF / Gaussian (smooth curves — the default), polynomial.</a:t>
            </a: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endParaRPr lang="en-US" sz="1400" dirty="0"/>
          </a:p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RBF kernel is the go-to for most tabular problems.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4389120" cy="3291840"/>
          </a:xfrm>
          <a:prstGeom prst="roundRect">
            <a:avLst>
              <a:gd name="adj" fmla="val 2500"/>
            </a:avLst>
          </a:prstGeom>
          <a:solidFill>
            <a:srgbClr val="ECF3F2"/>
          </a:solidFill>
          <a:ln w="9525">
            <a:solidFill>
              <a:srgbClr val="D9E0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78040" y="19019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key knobs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78040" y="2359152"/>
            <a:ext cx="39319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regularization: low C = wider margin, more tolerant; high C = fits training data harder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— RBF reach: low = smooth/broad; high = wiggly, can overfit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both together (grid search).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IT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on the Wine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583680" cy="2194560"/>
          </a:xfrm>
          <a:prstGeom prst="roundRect">
            <a:avLst>
              <a:gd name="adj" fmla="val 2500"/>
            </a:avLst>
          </a:prstGeom>
          <a:solidFill>
            <a:srgbClr val="0B3B39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24128" y="1883664"/>
            <a:ext cx="618134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SVC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SVC(kernel='rbf', C=1, gamma='scale',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probability=True, random_state=42)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8F3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model.fit(X_train, y_train)     # X scaled first!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680960" y="1737360"/>
            <a:ext cx="3657600" cy="2194560"/>
          </a:xfrm>
          <a:prstGeom prst="roundRect">
            <a:avLst>
              <a:gd name="adj" fmla="val 3750"/>
            </a:avLst>
          </a:prstGeom>
          <a:solidFill>
            <a:srgbClr val="FDECEC"/>
          </a:solidFill>
          <a:ln w="9525">
            <a:solidFill>
              <a:srgbClr val="D9E0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909560" y="19019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scale first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909560" y="2359152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uses distances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Unscaled features distort the margin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StandardScaler before SVM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predict the wine cultivar (3 classes) from 13 chemical features, then evaluate with the confusion matrix and macro precision/recall/F1 — the same scorecard as every classifier in this block.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14516"/>
            </a:avLst>
          </a:prstGeom>
          <a:solidFill>
            <a:srgbClr val="FBF3E7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59893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 </a:t>
            </a:r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needs scaled features. RBF + moderate C is a strong default.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67665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61264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finds the maximum-margin boundary, defined by support vectors.</a:t>
            </a:r>
            <a:endParaRPr lang="en-US" sz="1450" dirty="0"/>
          </a:p>
          <a:p>
            <a:pPr algn="l" indent="0" marL="0">
              <a:lnSpc>
                <a:spcPct val="106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Kernels (RBF, polynomial) let it draw non-linear boundaries.</a:t>
            </a:r>
            <a:endParaRPr lang="en-US" sz="1450" dirty="0"/>
          </a:p>
          <a:p>
            <a:pPr algn="l" indent="0" marL="0">
              <a:lnSpc>
                <a:spcPct val="106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controls margin width; gamma controls RBF flexibility.</a:t>
            </a:r>
            <a:endParaRPr lang="en-US" sz="1450" dirty="0"/>
          </a:p>
          <a:p>
            <a:pPr algn="l" indent="0" marL="0">
              <a:lnSpc>
                <a:spcPct val="1060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features — SVM is distance-based.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178040" y="1600200"/>
            <a:ext cx="4160520" cy="3291840"/>
          </a:xfrm>
          <a:prstGeom prst="roundRect">
            <a:avLst>
              <a:gd name="adj" fmla="val 2500"/>
            </a:avLst>
          </a:prstGeom>
          <a:solidFill>
            <a:srgbClr val="FBF3E7"/>
          </a:solidFill>
          <a:ln w="9525">
            <a:solidFill>
              <a:srgbClr val="D9E0E3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06640" y="1764792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Now: open the notebook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06640" y="2221992"/>
            <a:ext cx="3703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scale the Wine data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RBF SVM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classification report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3E4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 and AUC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989320"/>
            <a:ext cx="10515600" cy="566928"/>
          </a:xfrm>
          <a:prstGeom prst="roundRect">
            <a:avLst>
              <a:gd name="adj" fmla="val 14516"/>
            </a:avLst>
          </a:prstGeom>
          <a:solidFill>
            <a:srgbClr val="FBF3E7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5989320"/>
            <a:ext cx="10149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   </a:t>
            </a:r>
            <a:pPr algn="l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Naïve Bayes — a fast, probabilistic classifier built on Bayes' theorem.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Session 10 — Support Vector Machines</dc:title>
  <dc:subject>PptxGenJS Presentation</dc:subject>
  <dc:creator>Neural Networks Course</dc:creator>
  <cp:lastModifiedBy>Neural Networks Course</cp:lastModifiedBy>
  <cp:revision>1</cp:revision>
  <dcterms:created xsi:type="dcterms:W3CDTF">2026-08-01T17:04:31Z</dcterms:created>
  <dcterms:modified xsi:type="dcterms:W3CDTF">2026-08-01T17:04:31Z</dcterms:modified>
</cp:coreProperties>
</file>